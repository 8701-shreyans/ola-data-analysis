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DE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73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5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2ED88-379A-4185-8D70-FB6D45A550FF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E36E-50AF-4481-8A34-A08F26B72C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389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2ED88-379A-4185-8D70-FB6D45A550FF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E36E-50AF-4481-8A34-A08F26B72C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285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9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2ED88-379A-4185-8D70-FB6D45A550FF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E36E-50AF-4481-8A34-A08F26B72C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856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5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69" y="2160590"/>
            <a:ext cx="4184035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2ED88-379A-4185-8D70-FB6D45A550FF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E36E-50AF-4481-8A34-A08F26B72C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682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6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6" y="2737247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5" y="2737247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2ED88-379A-4185-8D70-FB6D45A550FF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E36E-50AF-4481-8A34-A08F26B72C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385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2ED88-379A-4185-8D70-FB6D45A550FF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E36E-50AF-4481-8A34-A08F26B72C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716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2ED88-379A-4185-8D70-FB6D45A550FF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E36E-50AF-4481-8A34-A08F26B72C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611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2" y="514926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5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51" indent="0">
              <a:buNone/>
              <a:defRPr sz="1400"/>
            </a:lvl2pPr>
            <a:lvl3pPr marL="914104" indent="0">
              <a:buNone/>
              <a:defRPr sz="1200"/>
            </a:lvl3pPr>
            <a:lvl4pPr marL="1371155" indent="0">
              <a:buNone/>
              <a:defRPr sz="1000"/>
            </a:lvl4pPr>
            <a:lvl5pPr marL="1828205" indent="0">
              <a:buNone/>
              <a:defRPr sz="1000"/>
            </a:lvl5pPr>
            <a:lvl6pPr marL="2285258" indent="0">
              <a:buNone/>
              <a:defRPr sz="1000"/>
            </a:lvl6pPr>
            <a:lvl7pPr marL="2742309" indent="0">
              <a:buNone/>
              <a:defRPr sz="1000"/>
            </a:lvl7pPr>
            <a:lvl8pPr marL="3199360" indent="0">
              <a:buNone/>
              <a:defRPr sz="1000"/>
            </a:lvl8pPr>
            <a:lvl9pPr marL="3656411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2ED88-379A-4185-8D70-FB6D45A550FF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E36E-50AF-4481-8A34-A08F26B72C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70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5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5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2ED88-379A-4185-8D70-FB6D45A550FF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E36E-50AF-4481-8A34-A08F26B72C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49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2ED88-379A-4185-8D70-FB6D45A550FF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E36E-50AF-4481-8A34-A08F26B72C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036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2ED88-379A-4185-8D70-FB6D45A550FF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E36E-50AF-4481-8A34-A08F26B72C95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1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8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594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2ED88-379A-4185-8D70-FB6D45A550FF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E36E-50AF-4481-8A34-A08F26B72C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0143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2ED88-379A-4185-8D70-FB6D45A550FF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E36E-50AF-4481-8A34-A08F26B72C9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1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1222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2ED88-379A-4185-8D70-FB6D45A550FF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E36E-50AF-4481-8A34-A08F26B72C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9424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2ED88-379A-4185-8D70-FB6D45A550FF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E36E-50AF-4481-8A34-A08F26B72C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925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4" y="609601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1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2ED88-379A-4185-8D70-FB6D45A550FF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E36E-50AF-4481-8A34-A08F26B72C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217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2160590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4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2ED88-379A-4185-8D70-FB6D45A550FF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5" y="6041364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4" y="6041364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B4EE36E-50AF-4481-8A34-A08F26B72C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54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189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891" indent="-342891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DEAE">
            <a:alpha val="3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3D92F-0421-8E61-9713-B9C508F7A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2427" y="1239521"/>
            <a:ext cx="7766936" cy="2587796"/>
          </a:xfrm>
        </p:spPr>
        <p:txBody>
          <a:bodyPr/>
          <a:lstStyle/>
          <a:p>
            <a:pPr algn="ctr"/>
            <a:r>
              <a:rPr lang="en-US" b="1" dirty="0"/>
              <a:t>Ola Bookings Report: Unlocking Operational Insights</a:t>
            </a:r>
            <a:endParaRPr lang="en-IN" dirty="0"/>
          </a:p>
        </p:txBody>
      </p:sp>
      <p:pic>
        <p:nvPicPr>
          <p:cNvPr id="1027" name="Picture 3" descr="Ola Cabs Vector Logo">
            <a:extLst>
              <a:ext uri="{FF2B5EF4-FFF2-40B4-BE49-F238E27FC236}">
                <a16:creationId xmlns:a16="http://schemas.microsoft.com/office/drawing/2014/main" id="{B32027A4-AB22-5DF4-7DDC-79E5EA16C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330" y="3941521"/>
            <a:ext cx="3758607" cy="2089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ride-budget">
            <a:extLst>
              <a:ext uri="{FF2B5EF4-FFF2-40B4-BE49-F238E27FC236}">
                <a16:creationId xmlns:a16="http://schemas.microsoft.com/office/drawing/2014/main" id="{F39075FD-D4FE-8489-F781-D7732CB94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8746" y="3941521"/>
            <a:ext cx="2834724" cy="2089785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1953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DEAE">
            <a:alpha val="3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8C78E-BB73-A0EE-3A09-1AF0BD244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Project Overview &amp; Dataset Overview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B6C35-F23C-DAF4-570C-B6CC63EB36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800" b="1" dirty="0"/>
              <a:t>Study Objective</a:t>
            </a:r>
            <a:endParaRPr lang="en-IN" dirty="0"/>
          </a:p>
          <a:p>
            <a:pPr marL="0" indent="0" algn="just">
              <a:buNone/>
            </a:pPr>
            <a:r>
              <a:rPr lang="en-IN" sz="2000" dirty="0"/>
              <a:t>Analyze Ola booking data to understand:</a:t>
            </a:r>
          </a:p>
          <a:p>
            <a:pPr algn="just">
              <a:buFont typeface="+mj-lt"/>
              <a:buAutoNum type="arabicPeriod"/>
            </a:pPr>
            <a:r>
              <a:rPr lang="en-IN" dirty="0"/>
              <a:t>Operational performance</a:t>
            </a:r>
          </a:p>
          <a:p>
            <a:pPr algn="just">
              <a:buFont typeface="+mj-lt"/>
              <a:buAutoNum type="arabicPeriod"/>
            </a:pPr>
            <a:r>
              <a:rPr lang="en-IN" dirty="0"/>
              <a:t>Revenue patterns</a:t>
            </a:r>
          </a:p>
          <a:p>
            <a:pPr algn="just">
              <a:buFont typeface="+mj-lt"/>
              <a:buAutoNum type="arabicPeriod"/>
            </a:pPr>
            <a:r>
              <a:rPr lang="en-IN" dirty="0"/>
              <a:t>Customer behavior</a:t>
            </a:r>
          </a:p>
          <a:p>
            <a:pPr algn="just">
              <a:buFont typeface="+mj-lt"/>
              <a:buAutoNum type="arabicPeriod"/>
            </a:pPr>
            <a:r>
              <a:rPr lang="en-IN" dirty="0"/>
              <a:t>Convert raw data into business</a:t>
            </a:r>
          </a:p>
          <a:p>
            <a:pPr algn="just">
              <a:buFont typeface="+mj-lt"/>
              <a:buAutoNum type="arabicPeriod"/>
            </a:pPr>
            <a:r>
              <a:rPr lang="en-IN" dirty="0"/>
              <a:t>insights using EDA and dashboards.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0AE42D-5790-8DF7-859E-4374E6CFA61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600" b="1" dirty="0"/>
              <a:t>Dataset Summary</a:t>
            </a:r>
          </a:p>
          <a:p>
            <a:pPr marL="0" indent="0" algn="just">
              <a:buNone/>
            </a:pPr>
            <a:r>
              <a:rPr lang="en-IN" sz="2000" dirty="0"/>
              <a:t>Total Records: 103K+ bookings </a:t>
            </a:r>
          </a:p>
          <a:p>
            <a:pPr marL="0" indent="0" algn="just">
              <a:buNone/>
            </a:pPr>
            <a:r>
              <a:rPr lang="en-IN" sz="2000" dirty="0"/>
              <a:t>Key Fields:</a:t>
            </a:r>
            <a:endParaRPr lang="en-IN" dirty="0"/>
          </a:p>
          <a:p>
            <a:pPr algn="just">
              <a:buFont typeface="+mj-lt"/>
              <a:buAutoNum type="arabicPeriod"/>
            </a:pPr>
            <a:r>
              <a:rPr lang="en-IN" dirty="0"/>
              <a:t>Booking Status</a:t>
            </a:r>
          </a:p>
          <a:p>
            <a:pPr algn="just">
              <a:buFont typeface="+mj-lt"/>
              <a:buAutoNum type="arabicPeriod"/>
            </a:pPr>
            <a:r>
              <a:rPr lang="en-IN" dirty="0"/>
              <a:t>Vehicle Type</a:t>
            </a:r>
          </a:p>
          <a:p>
            <a:pPr algn="just">
              <a:buFont typeface="+mj-lt"/>
              <a:buAutoNum type="arabicPeriod"/>
            </a:pPr>
            <a:r>
              <a:rPr lang="en-IN" dirty="0"/>
              <a:t>Payment Method</a:t>
            </a:r>
          </a:p>
          <a:p>
            <a:pPr algn="just">
              <a:buFont typeface="+mj-lt"/>
              <a:buAutoNum type="arabicPeriod"/>
            </a:pPr>
            <a:r>
              <a:rPr lang="en-IN" dirty="0"/>
              <a:t>Ride Distance</a:t>
            </a:r>
          </a:p>
          <a:p>
            <a:pPr algn="just">
              <a:buFont typeface="+mj-lt"/>
              <a:buAutoNum type="arabicPeriod"/>
            </a:pPr>
            <a:r>
              <a:rPr lang="en-IN" dirty="0"/>
              <a:t>Booking Value</a:t>
            </a:r>
          </a:p>
          <a:p>
            <a:pPr algn="just">
              <a:buFont typeface="+mj-lt"/>
              <a:buAutoNum type="arabicPeriod"/>
            </a:pPr>
            <a:r>
              <a:rPr lang="en-IN" dirty="0"/>
              <a:t>Ratings</a:t>
            </a:r>
          </a:p>
        </p:txBody>
      </p:sp>
    </p:spTree>
    <p:extLst>
      <p:ext uri="{BB962C8B-B14F-4D97-AF65-F5344CB8AC3E}">
        <p14:creationId xmlns:p14="http://schemas.microsoft.com/office/powerpoint/2010/main" val="1405492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DEAE">
            <a:alpha val="3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16BBA-4AFC-3181-4F1A-3257335D2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Questions</a:t>
            </a:r>
            <a:endParaRPr lang="en-IN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6A85CA-B7EB-318F-32C0-1F446D72B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2160589"/>
            <a:ext cx="8596668" cy="2634931"/>
          </a:xfrm>
        </p:spPr>
        <p:txBody>
          <a:bodyPr/>
          <a:lstStyle/>
          <a:p>
            <a:pPr algn="just"/>
            <a:r>
              <a:rPr lang="en-US" dirty="0"/>
              <a:t>This analysis answers:</a:t>
            </a:r>
          </a:p>
          <a:p>
            <a:pPr algn="just">
              <a:buFont typeface="+mj-lt"/>
              <a:buAutoNum type="arabicPeriod"/>
            </a:pPr>
            <a:r>
              <a:rPr lang="en-US" dirty="0"/>
              <a:t>How is overall booking performance?</a:t>
            </a:r>
          </a:p>
          <a:p>
            <a:pPr algn="just">
              <a:buFont typeface="+mj-lt"/>
              <a:buAutoNum type="arabicPeriod"/>
            </a:pPr>
            <a:r>
              <a:rPr lang="en-US" dirty="0"/>
              <a:t>Success vs cancellation rate?</a:t>
            </a:r>
          </a:p>
          <a:p>
            <a:pPr algn="just">
              <a:buFont typeface="+mj-lt"/>
              <a:buAutoNum type="arabicPeriod"/>
            </a:pPr>
            <a:r>
              <a:rPr lang="en-US" dirty="0"/>
              <a:t>Which vehicles generate revenue?</a:t>
            </a:r>
          </a:p>
          <a:p>
            <a:pPr algn="just">
              <a:buFont typeface="+mj-lt"/>
              <a:buAutoNum type="arabicPeriod"/>
            </a:pPr>
            <a:r>
              <a:rPr lang="en-US" dirty="0"/>
              <a:t>Preferred payment methods?</a:t>
            </a:r>
          </a:p>
          <a:p>
            <a:pPr algn="just">
              <a:buFont typeface="+mj-lt"/>
              <a:buAutoNum type="arabicPeriod"/>
            </a:pPr>
            <a:r>
              <a:rPr lang="en-US" dirty="0"/>
              <a:t>How does revenue change over time?</a:t>
            </a:r>
          </a:p>
        </p:txBody>
      </p:sp>
    </p:spTree>
    <p:extLst>
      <p:ext uri="{BB962C8B-B14F-4D97-AF65-F5344CB8AC3E}">
        <p14:creationId xmlns:p14="http://schemas.microsoft.com/office/powerpoint/2010/main" val="443216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DEAE">
            <a:alpha val="3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AE67-7665-9580-5C4C-F83AD6E0A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721360"/>
          </a:xfrm>
        </p:spPr>
        <p:txBody>
          <a:bodyPr/>
          <a:lstStyle/>
          <a:p>
            <a:r>
              <a:rPr lang="en-US" b="1" dirty="0"/>
              <a:t>KPI Overview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42491-35E0-A0B0-EEBD-AE488B28A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1330961"/>
            <a:ext cx="8596668" cy="2472371"/>
          </a:xfrm>
        </p:spPr>
        <p:txBody>
          <a:bodyPr/>
          <a:lstStyle/>
          <a:p>
            <a:r>
              <a:rPr lang="en-US" b="1" dirty="0"/>
              <a:t>Key Metrics: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Total Bookings</a:t>
            </a:r>
          </a:p>
          <a:p>
            <a:pPr>
              <a:buFont typeface="+mj-lt"/>
              <a:buAutoNum type="arabicPeriod"/>
            </a:pPr>
            <a:r>
              <a:rPr lang="en-US" dirty="0"/>
              <a:t>Total Revenue</a:t>
            </a:r>
          </a:p>
          <a:p>
            <a:pPr>
              <a:buFont typeface="+mj-lt"/>
              <a:buAutoNum type="arabicPeriod"/>
            </a:pPr>
            <a:r>
              <a:rPr lang="en-US" dirty="0"/>
              <a:t>Avg Ride Distance</a:t>
            </a:r>
          </a:p>
          <a:p>
            <a:pPr>
              <a:buFont typeface="+mj-lt"/>
              <a:buAutoNum type="arabicPeriod"/>
            </a:pPr>
            <a:r>
              <a:rPr lang="en-US" dirty="0"/>
              <a:t>Avg Customer Rating</a:t>
            </a:r>
          </a:p>
          <a:p>
            <a:pPr>
              <a:buFont typeface="+mj-lt"/>
              <a:buAutoNum type="arabicPeriod"/>
            </a:pPr>
            <a:r>
              <a:rPr lang="en-US" dirty="0"/>
              <a:t>Total Cancellations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7E82C2-6CBE-FF71-26CD-CBE8B98073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667"/>
          <a:stretch>
            <a:fillRect/>
          </a:stretch>
        </p:blipFill>
        <p:spPr>
          <a:xfrm>
            <a:off x="1480628" y="3970510"/>
            <a:ext cx="6990080" cy="11083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BDCE34-D8EA-BF07-9A53-821CD36406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417"/>
          <a:stretch>
            <a:fillRect/>
          </a:stretch>
        </p:blipFill>
        <p:spPr>
          <a:xfrm>
            <a:off x="2318828" y="5246051"/>
            <a:ext cx="5313680" cy="110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024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DEAE">
            <a:alpha val="3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D7046-1519-F47A-8B3A-27DD7E7B1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Booking Status Analyis</a:t>
            </a:r>
            <a:endParaRPr lang="en-IN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C7B5AD-0F4A-B69A-E27D-724FBB8C1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1500191"/>
            <a:ext cx="8596668" cy="1320800"/>
          </a:xfrm>
        </p:spPr>
        <p:txBody>
          <a:bodyPr/>
          <a:lstStyle/>
          <a:p>
            <a:r>
              <a:rPr lang="en-US" dirty="0"/>
              <a:t>Majority rides completed successfully.</a:t>
            </a:r>
          </a:p>
          <a:p>
            <a:r>
              <a:rPr lang="en-US" dirty="0"/>
              <a:t>Customer &amp; driver cancellations exist.</a:t>
            </a:r>
          </a:p>
          <a:p>
            <a:r>
              <a:rPr lang="en-US" dirty="0"/>
              <a:t>Operational improvement opportunity.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30F478-6F3C-B2C6-3140-DFB06D27D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371" y="2820989"/>
            <a:ext cx="5328596" cy="346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369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DEAE">
            <a:alpha val="3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63303-0C8C-A3D7-887F-C52357BEB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Revenue Analysis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ACC1E-BBE9-D16B-DB19-2A3F440B2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1593375"/>
            <a:ext cx="8596668" cy="1507171"/>
          </a:xfrm>
        </p:spPr>
        <p:txBody>
          <a:bodyPr/>
          <a:lstStyle/>
          <a:p>
            <a:r>
              <a:rPr lang="en-US" dirty="0"/>
              <a:t>Revenue distributed across vehicle types.</a:t>
            </a:r>
          </a:p>
          <a:p>
            <a:r>
              <a:rPr lang="en-US" dirty="0"/>
              <a:t>Prime Sedan contributes slightly more.</a:t>
            </a:r>
          </a:p>
          <a:p>
            <a:r>
              <a:rPr lang="en-US" dirty="0"/>
              <a:t>Vehicle diversity supports stable earnings.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D7F014-C2FF-DD04-9228-404F15A67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233" y="2914175"/>
            <a:ext cx="6238531" cy="306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379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DEAE">
            <a:alpha val="32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DDB858-A74A-850F-B63B-215D6F3AC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22C6C-4BC8-28C6-3ABB-981159483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Customer Behavior Analysis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E6AFF-7FFD-F978-0035-97FEC6398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1593375"/>
            <a:ext cx="8596668" cy="1507171"/>
          </a:xfrm>
        </p:spPr>
        <p:txBody>
          <a:bodyPr>
            <a:normAutofit/>
          </a:bodyPr>
          <a:lstStyle/>
          <a:p>
            <a:r>
              <a:rPr lang="en-US" dirty="0"/>
              <a:t>Digital payments dominate.</a:t>
            </a:r>
          </a:p>
          <a:p>
            <a:r>
              <a:rPr lang="en-US" dirty="0"/>
              <a:t>Cash usage comparatively lower.</a:t>
            </a:r>
          </a:p>
          <a:p>
            <a:r>
              <a:rPr lang="en-US" dirty="0"/>
              <a:t>Indicates strong digital adoption.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3FDCD9-3F98-D34C-6B87-1A06BA5CE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186" y="2914175"/>
            <a:ext cx="4991414" cy="327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188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C0923D-D116-266A-FFA3-E43D2724D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69538-7AF0-E085-5DE5-3C78469A1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Revenue Trend Analysis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DD518-8171-91D5-4503-3780B8233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1593375"/>
            <a:ext cx="8596668" cy="1507171"/>
          </a:xfrm>
        </p:spPr>
        <p:txBody>
          <a:bodyPr>
            <a:normAutofit/>
          </a:bodyPr>
          <a:lstStyle/>
          <a:p>
            <a:r>
              <a:rPr lang="en-US" dirty="0"/>
              <a:t>Revenue fluctuates daily.</a:t>
            </a:r>
          </a:p>
          <a:p>
            <a:r>
              <a:rPr lang="en-US" dirty="0"/>
              <a:t>Peaks indicate high-demand periods.</a:t>
            </a:r>
          </a:p>
          <a:p>
            <a:r>
              <a:rPr lang="en-US" dirty="0"/>
              <a:t>Suggests demand variation over time.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29DF0D-12DF-AE6E-30D6-99DF5C1EA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146" y="2914175"/>
            <a:ext cx="6041454" cy="3247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846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DEAE">
            <a:alpha val="32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50CC97-3C83-6BE7-61D2-0D2DD0250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ADD81-0CBF-5653-F3F2-C4D93D86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 &amp; Recommendations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48702-67D1-C22D-0267-AD8591D3CD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Key Findings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Strong booking volume &amp; revenue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High success rate with moderate cancellations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Digital payments preferred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BF6C38-61EC-FC82-AC1C-E6187C659A6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en-US" b="1" dirty="0"/>
              <a:t>Recommendations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/>
              <a:t>Improve driver allocation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/>
              <a:t>Reduce cancellations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/>
              <a:t>Promote digital payments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/>
              <a:t>Monitor revenue trends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FA30494-5150-0922-90D8-BDB0EF0AB94F}"/>
              </a:ext>
            </a:extLst>
          </p:cNvPr>
          <p:cNvSpPr txBox="1">
            <a:spLocks/>
          </p:cNvSpPr>
          <p:nvPr/>
        </p:nvSpPr>
        <p:spPr>
          <a:xfrm>
            <a:off x="1523999" y="5380961"/>
            <a:ext cx="5189683" cy="660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/>
              <a:t>Thank You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61019F4-4818-1108-A4AA-5F21929568BC}"/>
              </a:ext>
            </a:extLst>
          </p:cNvPr>
          <p:cNvSpPr txBox="1">
            <a:spLocks/>
          </p:cNvSpPr>
          <p:nvPr/>
        </p:nvSpPr>
        <p:spPr>
          <a:xfrm>
            <a:off x="5889415" y="6271553"/>
            <a:ext cx="1822025" cy="5994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800" dirty="0"/>
              <a:t>Shreyans Jain H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86148515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Custom 5">
      <a:dk1>
        <a:sysClr val="windowText" lastClr="000000"/>
      </a:dk1>
      <a:lt1>
        <a:srgbClr val="E3DEAE"/>
      </a:lt1>
      <a:dk2>
        <a:srgbClr val="2C3C43"/>
      </a:dk2>
      <a:lt2>
        <a:srgbClr val="E3DEAE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43</TotalTime>
  <Words>219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Ola Bookings Report: Unlocking Operational Insights</vt:lpstr>
      <vt:lpstr>Project Overview &amp; Dataset Overview</vt:lpstr>
      <vt:lpstr>Business Questions</vt:lpstr>
      <vt:lpstr>KPI Overview</vt:lpstr>
      <vt:lpstr>Booking Status Analyis</vt:lpstr>
      <vt:lpstr>Revenue Analysis</vt:lpstr>
      <vt:lpstr>Customer Behavior Analysis</vt:lpstr>
      <vt:lpstr>Revenue Trend Analysis</vt:lpstr>
      <vt:lpstr>Conclusion &amp;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Shreyans Jain</dc:creator>
  <cp:lastModifiedBy>Shreyans Jain</cp:lastModifiedBy>
  <cp:revision>1</cp:revision>
  <dcterms:created xsi:type="dcterms:W3CDTF">2026-03-01T17:55:10Z</dcterms:created>
  <dcterms:modified xsi:type="dcterms:W3CDTF">2026-03-01T18:39:04Z</dcterms:modified>
</cp:coreProperties>
</file>